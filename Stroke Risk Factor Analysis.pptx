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78" r:id="rId3"/>
    <p:sldId id="264" r:id="rId4"/>
    <p:sldId id="269" r:id="rId5"/>
    <p:sldId id="271" r:id="rId6"/>
    <p:sldId id="270" r:id="rId7"/>
    <p:sldId id="273" r:id="rId8"/>
    <p:sldId id="279" r:id="rId9"/>
    <p:sldId id="274" r:id="rId10"/>
    <p:sldId id="263" r:id="rId11"/>
    <p:sldId id="268" r:id="rId12"/>
    <p:sldId id="275" r:id="rId13"/>
    <p:sldId id="276" r:id="rId14"/>
    <p:sldId id="272" r:id="rId15"/>
    <p:sldId id="28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4" autoAdjust="0"/>
    <p:restoredTop sz="94660"/>
  </p:normalViewPr>
  <p:slideViewPr>
    <p:cSldViewPr>
      <p:cViewPr>
        <p:scale>
          <a:sx n="50" d="100"/>
          <a:sy n="50" d="100"/>
        </p:scale>
        <p:origin x="1500" y="37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7/1/2026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7/1/2026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7/1/2026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7/1/2026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7/1/2026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7/1/2026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7/1/2026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7/1/2026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7/1/2026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7/1/2026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flickr.com/photos/nihgov/35371752650/"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www.progressive-charlestown.com/2020/05/stroke-experts-offer-guidelines-for.html"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Stroke Risk Factor Analysis</a:t>
            </a:r>
          </a:p>
        </p:txBody>
      </p:sp>
      <p:sp>
        <p:nvSpPr>
          <p:cNvPr id="3" name="Subtitle 2"/>
          <p:cNvSpPr>
            <a:spLocks noGrp="1"/>
          </p:cNvSpPr>
          <p:nvPr>
            <p:ph type="subTitle" idx="1"/>
          </p:nvPr>
        </p:nvSpPr>
        <p:spPr/>
        <p:txBody>
          <a:bodyPr/>
          <a:lstStyle/>
          <a:p>
            <a:r>
              <a:rPr lang="en-US" dirty="0"/>
              <a:t>By Taija Grace &amp; </a:t>
            </a:r>
            <a:r>
              <a:rPr lang="en-US" dirty="0" err="1"/>
              <a:t>alex</a:t>
            </a:r>
            <a:r>
              <a:rPr lang="en-US" dirty="0"/>
              <a:t> ruder</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9509-A8A2-CAEB-CD86-18420E28D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344D5-37AD-3EF4-5EB9-9F00ED51878B}"/>
              </a:ext>
            </a:extLst>
          </p:cNvPr>
          <p:cNvSpPr>
            <a:spLocks noGrp="1"/>
          </p:cNvSpPr>
          <p:nvPr>
            <p:ph type="title"/>
          </p:nvPr>
        </p:nvSpPr>
        <p:spPr>
          <a:xfrm>
            <a:off x="381000" y="-34977"/>
            <a:ext cx="5486400" cy="2643980"/>
          </a:xfrm>
        </p:spPr>
        <p:txBody>
          <a:bodyPr anchor="b">
            <a:normAutofit/>
          </a:bodyPr>
          <a:lstStyle/>
          <a:p>
            <a:r>
              <a:rPr lang="en-US" dirty="0"/>
              <a:t>Abstract</a:t>
            </a:r>
          </a:p>
        </p:txBody>
      </p:sp>
      <p:sp>
        <p:nvSpPr>
          <p:cNvPr id="3" name="Content Placeholder 2">
            <a:extLst>
              <a:ext uri="{FF2B5EF4-FFF2-40B4-BE49-F238E27FC236}">
                <a16:creationId xmlns:a16="http://schemas.microsoft.com/office/drawing/2014/main" id="{CA522700-EB7F-21E6-55C8-246852B38956}"/>
              </a:ext>
            </a:extLst>
          </p:cNvPr>
          <p:cNvSpPr>
            <a:spLocks noGrp="1"/>
          </p:cNvSpPr>
          <p:nvPr>
            <p:ph type="body" idx="1"/>
          </p:nvPr>
        </p:nvSpPr>
        <p:spPr>
          <a:xfrm>
            <a:off x="1066800" y="3429000"/>
            <a:ext cx="10363200" cy="3200400"/>
          </a:xfrm>
        </p:spPr>
        <p:txBody>
          <a:bodyPr>
            <a:noAutofit/>
          </a:bodyPr>
          <a:lstStyle/>
          <a:p>
            <a:r>
              <a:rPr lang="en-US" sz="2400" dirty="0"/>
              <a:t>Stroke is a major neurological emergency, the 2nd leading cause of death and top cause of long‑term disability. Globally, 15M cases occur yearly, with 6.2M deaths and 5M disabilities. In the U.S., a stroke happens every 40 seconds (795K/year, $34B cost). Ischemic strokes (87%) result from artery blockage; hemorrhagic strokes from vessel rupture. Up to 80% are preventable by managing hypertension, hyperglycemia, atrial fibrillation, smoking, and obesity.</a:t>
            </a:r>
          </a:p>
        </p:txBody>
      </p:sp>
    </p:spTree>
    <p:extLst>
      <p:ext uri="{BB962C8B-B14F-4D97-AF65-F5344CB8AC3E}">
        <p14:creationId xmlns:p14="http://schemas.microsoft.com/office/powerpoint/2010/main" val="3289788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7">
            <a:extLst>
              <a:ext uri="{FF2B5EF4-FFF2-40B4-BE49-F238E27FC236}">
                <a16:creationId xmlns:a16="http://schemas.microsoft.com/office/drawing/2014/main" id="{0BB1A7E7-D05A-70CA-C560-AD9895EE32B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p:blipFill>
        <p:spPr>
          <a:xfrm>
            <a:off x="19051" y="0"/>
            <a:ext cx="12172950" cy="6858000"/>
          </a:xfrm>
          <a:prstGeom prst="rect">
            <a:avLst/>
          </a:prstGeom>
          <a:noFill/>
        </p:spPr>
      </p:pic>
    </p:spTree>
    <p:extLst>
      <p:ext uri="{BB962C8B-B14F-4D97-AF65-F5344CB8AC3E}">
        <p14:creationId xmlns:p14="http://schemas.microsoft.com/office/powerpoint/2010/main" val="100186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8D7A-0026-7AA3-CDD9-FB8B25B01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A7CED-8F54-174D-BFBB-31D4B9B062AC}"/>
              </a:ext>
            </a:extLst>
          </p:cNvPr>
          <p:cNvSpPr>
            <a:spLocks noGrp="1"/>
          </p:cNvSpPr>
          <p:nvPr>
            <p:ph type="title"/>
          </p:nvPr>
        </p:nvSpPr>
        <p:spPr>
          <a:xfrm>
            <a:off x="381000" y="-34977"/>
            <a:ext cx="5486400" cy="2643980"/>
          </a:xfrm>
        </p:spPr>
        <p:txBody>
          <a:bodyPr anchor="b">
            <a:normAutofit/>
          </a:bodyPr>
          <a:lstStyle/>
          <a:p>
            <a:r>
              <a:rPr lang="en-US" dirty="0"/>
              <a:t>Problem</a:t>
            </a:r>
          </a:p>
        </p:txBody>
      </p:sp>
      <p:sp>
        <p:nvSpPr>
          <p:cNvPr id="3" name="Content Placeholder 2">
            <a:extLst>
              <a:ext uri="{FF2B5EF4-FFF2-40B4-BE49-F238E27FC236}">
                <a16:creationId xmlns:a16="http://schemas.microsoft.com/office/drawing/2014/main" id="{A219533D-32C9-FCD4-52B8-3EA8BCBD30B1}"/>
              </a:ext>
            </a:extLst>
          </p:cNvPr>
          <p:cNvSpPr>
            <a:spLocks noGrp="1"/>
          </p:cNvSpPr>
          <p:nvPr>
            <p:ph type="body" idx="1"/>
          </p:nvPr>
        </p:nvSpPr>
        <p:spPr>
          <a:xfrm>
            <a:off x="1066800" y="3429000"/>
            <a:ext cx="10363200" cy="2438400"/>
          </a:xfrm>
        </p:spPr>
        <p:txBody>
          <a:bodyPr>
            <a:noAutofit/>
          </a:bodyPr>
          <a:lstStyle/>
          <a:p>
            <a:pPr marL="0" indent="0">
              <a:buNone/>
            </a:pPr>
            <a:r>
              <a:rPr lang="en-US" sz="2400" dirty="0"/>
              <a:t>Routine primary care collects key clinical data—age, blood pressure, glucose, BMI, cardiovascular history, and lifestyle factors—but these are rarely turned into structured, evidence‑based risk assessments. Without converting raw data into actionable risk signals, many high‑risk patients go undetected. Current machine‑learning models are accurate but often opaque, complex, and hard for clinicians to interpret, limiting real‑world use.</a:t>
            </a:r>
          </a:p>
        </p:txBody>
      </p:sp>
    </p:spTree>
    <p:extLst>
      <p:ext uri="{BB962C8B-B14F-4D97-AF65-F5344CB8AC3E}">
        <p14:creationId xmlns:p14="http://schemas.microsoft.com/office/powerpoint/2010/main" val="21204719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EA8D-8453-D463-8E5A-1C353DC6B246}"/>
            </a:ext>
          </a:extLst>
        </p:cNvPr>
        <p:cNvGrpSpPr/>
        <p:nvPr/>
      </p:nvGrpSpPr>
      <p:grpSpPr>
        <a:xfrm>
          <a:off x="0" y="0"/>
          <a:ext cx="0" cy="0"/>
          <a:chOff x="0" y="0"/>
          <a:chExt cx="0" cy="0"/>
        </a:xfrm>
      </p:grpSpPr>
      <p:pic>
        <p:nvPicPr>
          <p:cNvPr id="2" name="Picture 1" descr="Anatomical Charts - Neurological Posters - Pathology Posters - Geriatric Health Charts - Stroke ...">
            <a:extLst>
              <a:ext uri="{FF2B5EF4-FFF2-40B4-BE49-F238E27FC236}">
                <a16:creationId xmlns:a16="http://schemas.microsoft.com/office/drawing/2014/main" id="{9095B837-A842-E746-D03B-9B067B2D721E}"/>
              </a:ext>
            </a:extLst>
          </p:cNvPr>
          <p:cNvPicPr>
            <a:picLocks noChangeAspect="1"/>
          </p:cNvPicPr>
          <p:nvPr/>
        </p:nvPicPr>
        <p:blipFill>
          <a:blip r:embed="rId2"/>
          <a:stretch>
            <a:fillRect/>
          </a:stretch>
        </p:blipFill>
        <p:spPr>
          <a:xfrm>
            <a:off x="76200" y="0"/>
            <a:ext cx="12115800" cy="6850743"/>
          </a:xfrm>
          <a:prstGeom prst="rect">
            <a:avLst/>
          </a:prstGeom>
        </p:spPr>
      </p:pic>
    </p:spTree>
    <p:extLst>
      <p:ext uri="{BB962C8B-B14F-4D97-AF65-F5344CB8AC3E}">
        <p14:creationId xmlns:p14="http://schemas.microsoft.com/office/powerpoint/2010/main" val="20448249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2C6D-34FE-53F2-86C1-F8668B341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0EAD1-96FD-CADF-BDE2-D40A943E9E66}"/>
              </a:ext>
            </a:extLst>
          </p:cNvPr>
          <p:cNvSpPr>
            <a:spLocks noGrp="1"/>
          </p:cNvSpPr>
          <p:nvPr>
            <p:ph type="title"/>
          </p:nvPr>
        </p:nvSpPr>
        <p:spPr>
          <a:xfrm>
            <a:off x="990600" y="304800"/>
            <a:ext cx="5486400" cy="2186780"/>
          </a:xfrm>
        </p:spPr>
        <p:txBody>
          <a:bodyPr anchor="b">
            <a:normAutofit/>
          </a:bodyPr>
          <a:lstStyle/>
          <a:p>
            <a:r>
              <a:rPr lang="en-US" dirty="0"/>
              <a:t>Approach</a:t>
            </a:r>
          </a:p>
        </p:txBody>
      </p:sp>
      <p:sp>
        <p:nvSpPr>
          <p:cNvPr id="3" name="Content Placeholder 2">
            <a:extLst>
              <a:ext uri="{FF2B5EF4-FFF2-40B4-BE49-F238E27FC236}">
                <a16:creationId xmlns:a16="http://schemas.microsoft.com/office/drawing/2014/main" id="{290F0CD5-3AB1-5581-8796-9163AA94F069}"/>
              </a:ext>
            </a:extLst>
          </p:cNvPr>
          <p:cNvSpPr>
            <a:spLocks noGrp="1"/>
          </p:cNvSpPr>
          <p:nvPr>
            <p:ph type="body" idx="1"/>
          </p:nvPr>
        </p:nvSpPr>
        <p:spPr>
          <a:xfrm>
            <a:off x="7315200" y="685800"/>
            <a:ext cx="4572000" cy="6096000"/>
          </a:xfrm>
        </p:spPr>
        <p:txBody>
          <a:bodyPr>
            <a:normAutofit/>
          </a:bodyPr>
          <a:lstStyle/>
          <a:p>
            <a:pPr marL="0" indent="0">
              <a:buNone/>
            </a:pPr>
            <a:r>
              <a:rPr lang="en-US" sz="2400" dirty="0"/>
              <a:t>This study uses transparent, interpretable statistics on 5,110 patients to detect known stroke risk factors. We apply simple, clinician‑friendly methods—T‑Tests, Chi‑Square, ANOVA, Quartile Analysis, and Patient Segmentation—to reveal meaningful patterns and high‑risk subgroups. This shows how routine clinical data can be turned into clear, actionable early‑risk insights.</a:t>
            </a:r>
          </a:p>
        </p:txBody>
      </p:sp>
    </p:spTree>
    <p:extLst>
      <p:ext uri="{BB962C8B-B14F-4D97-AF65-F5344CB8AC3E}">
        <p14:creationId xmlns:p14="http://schemas.microsoft.com/office/powerpoint/2010/main" val="27231757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AA936-F565-CFA3-8F21-B68892DC50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BD66D7C-5E40-FB32-1538-6D09F385439C}"/>
              </a:ext>
            </a:extLst>
          </p:cNvPr>
          <p:cNvSpPr txBox="1"/>
          <p:nvPr/>
        </p:nvSpPr>
        <p:spPr>
          <a:xfrm>
            <a:off x="1066800" y="99220"/>
            <a:ext cx="10058400" cy="132556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solidFill>
                  <a:schemeClr val="bg1"/>
                </a:solidFill>
                <a:latin typeface="+mj-lt"/>
                <a:ea typeface="+mj-ea"/>
                <a:cs typeface="+mj-cs"/>
              </a:rPr>
              <a:t>Dataset Description</a:t>
            </a:r>
            <a:endParaRPr lang="en-US" sz="3600" dirty="0">
              <a:solidFill>
                <a:schemeClr val="bg1"/>
              </a:solidFill>
              <a:latin typeface="+mj-lt"/>
              <a:ea typeface="+mj-ea"/>
              <a:cs typeface="+mj-cs"/>
            </a:endParaRPr>
          </a:p>
        </p:txBody>
      </p:sp>
      <p:sp>
        <p:nvSpPr>
          <p:cNvPr id="5" name="TextBox 4">
            <a:extLst>
              <a:ext uri="{FF2B5EF4-FFF2-40B4-BE49-F238E27FC236}">
                <a16:creationId xmlns:a16="http://schemas.microsoft.com/office/drawing/2014/main" id="{4A4FB251-5407-93FE-B5E2-0904B51BC228}"/>
              </a:ext>
            </a:extLst>
          </p:cNvPr>
          <p:cNvSpPr txBox="1"/>
          <p:nvPr/>
        </p:nvSpPr>
        <p:spPr>
          <a:xfrm>
            <a:off x="1524000" y="1828799"/>
            <a:ext cx="9144000" cy="4572001"/>
          </a:xfrm>
          <a:prstGeom prst="rect">
            <a:avLst/>
          </a:prstGeom>
        </p:spPr>
        <p:txBody>
          <a:bodyPr vert="horz" lIns="91440" tIns="45720" rIns="91440" bIns="45720" rtlCol="0">
            <a:normAutofit/>
          </a:bodyPr>
          <a:lstStyle/>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Dataset Source</a:t>
            </a:r>
            <a:r>
              <a:rPr lang="en-US" sz="2200">
                <a:solidFill>
                  <a:schemeClr val="tx1">
                    <a:lumMod val="75000"/>
                    <a:lumOff val="25000"/>
                  </a:schemeClr>
                </a:solidFill>
                <a:effectLst/>
              </a:rPr>
              <a:t> — Kaggle (fedesoriano, 2021)</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Sample Size</a:t>
            </a:r>
            <a:r>
              <a:rPr lang="en-US" sz="2200">
                <a:solidFill>
                  <a:schemeClr val="tx1">
                    <a:lumMod val="75000"/>
                    <a:lumOff val="25000"/>
                  </a:schemeClr>
                </a:solidFill>
                <a:effectLst/>
              </a:rPr>
              <a:t> — 5,110 patient records</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Attributes</a:t>
            </a:r>
            <a:r>
              <a:rPr lang="en-US" sz="2200">
                <a:solidFill>
                  <a:schemeClr val="tx1">
                    <a:lumMod val="75000"/>
                    <a:lumOff val="25000"/>
                  </a:schemeClr>
                </a:solidFill>
                <a:effectLst/>
              </a:rPr>
              <a:t> — 12 total (demographic, medical, lifestyle, stroke label)</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Demographics</a:t>
            </a:r>
            <a:r>
              <a:rPr lang="en-US" sz="2200">
                <a:solidFill>
                  <a:schemeClr val="tx1">
                    <a:lumMod val="75000"/>
                    <a:lumOff val="25000"/>
                  </a:schemeClr>
                </a:solidFill>
                <a:effectLst/>
              </a:rPr>
              <a:t> — id, gender, age, ever_married</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Medical Factors</a:t>
            </a:r>
            <a:r>
              <a:rPr lang="en-US" sz="2200">
                <a:solidFill>
                  <a:schemeClr val="tx1">
                    <a:lumMod val="75000"/>
                    <a:lumOff val="25000"/>
                  </a:schemeClr>
                </a:solidFill>
                <a:effectLst/>
              </a:rPr>
              <a:t> — hypertension, heart_disease, avg_glucose_level, BMI</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Lifestyle Factors</a:t>
            </a:r>
            <a:r>
              <a:rPr lang="en-US" sz="2200">
                <a:solidFill>
                  <a:schemeClr val="tx1">
                    <a:lumMod val="75000"/>
                    <a:lumOff val="25000"/>
                  </a:schemeClr>
                </a:solidFill>
                <a:effectLst/>
              </a:rPr>
              <a:t> — work_type, residence_type, smoking_status</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Target Variable</a:t>
            </a:r>
            <a:r>
              <a:rPr lang="en-US" sz="2200">
                <a:solidFill>
                  <a:schemeClr val="tx1">
                    <a:lumMod val="75000"/>
                    <a:lumOff val="25000"/>
                  </a:schemeClr>
                </a:solidFill>
                <a:effectLst/>
              </a:rPr>
              <a:t> — stroke (binary: 0 = no stroke, 1 = stroke)</a:t>
            </a:r>
            <a:endParaRPr lang="en-US" sz="2200">
              <a:solidFill>
                <a:schemeClr val="tx1">
                  <a:lumMod val="75000"/>
                  <a:lumOff val="25000"/>
                </a:schemeClr>
              </a:solidFill>
            </a:endParaRPr>
          </a:p>
          <a:p>
            <a:pPr marL="228600" indent="-228600">
              <a:lnSpc>
                <a:spcPct val="90000"/>
              </a:lnSpc>
              <a:spcBef>
                <a:spcPts val="1800"/>
              </a:spcBef>
              <a:buSzPct val="100000"/>
              <a:buFont typeface="Arial" pitchFamily="34" charset="0"/>
              <a:buChar char="▪"/>
            </a:pPr>
            <a:r>
              <a:rPr lang="en-US" sz="2200" b="1">
                <a:solidFill>
                  <a:schemeClr val="tx1">
                    <a:lumMod val="75000"/>
                    <a:lumOff val="25000"/>
                  </a:schemeClr>
                </a:solidFill>
                <a:effectLst/>
              </a:rPr>
              <a:t>Class Imbalance</a:t>
            </a:r>
            <a:r>
              <a:rPr lang="en-US" sz="2200">
                <a:solidFill>
                  <a:schemeClr val="tx1">
                    <a:lumMod val="75000"/>
                    <a:lumOff val="25000"/>
                  </a:schemeClr>
                </a:solidFill>
                <a:effectLst/>
              </a:rPr>
              <a:t> — 4,861 non‑stroke (95.13%) vs. 249 stroke (4.87%)</a:t>
            </a:r>
            <a:endParaRPr lang="en-US" sz="2200">
              <a:solidFill>
                <a:schemeClr val="tx1">
                  <a:lumMod val="75000"/>
                  <a:lumOff val="25000"/>
                </a:schemeClr>
              </a:solidFill>
            </a:endParaRPr>
          </a:p>
        </p:txBody>
      </p:sp>
    </p:spTree>
    <p:extLst>
      <p:ext uri="{BB962C8B-B14F-4D97-AF65-F5344CB8AC3E}">
        <p14:creationId xmlns:p14="http://schemas.microsoft.com/office/powerpoint/2010/main" val="15877196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AFB13-FC6C-62F5-F7E5-173CB2EBBE5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E304283-048F-42E9-AF52-19FB03B8FCF6}"/>
              </a:ext>
            </a:extLst>
          </p:cNvPr>
          <p:cNvSpPr txBox="1"/>
          <p:nvPr/>
        </p:nvSpPr>
        <p:spPr>
          <a:xfrm>
            <a:off x="1066800" y="99220"/>
            <a:ext cx="10058400" cy="132556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solidFill>
                  <a:schemeClr val="bg1"/>
                </a:solidFill>
                <a:latin typeface="+mj-lt"/>
                <a:ea typeface="+mj-ea"/>
                <a:cs typeface="+mj-cs"/>
              </a:rPr>
              <a:t>Methodology</a:t>
            </a:r>
            <a:endParaRPr lang="en-US" sz="3600" dirty="0">
              <a:solidFill>
                <a:schemeClr val="bg1"/>
              </a:solidFill>
              <a:latin typeface="+mj-lt"/>
              <a:ea typeface="+mj-ea"/>
              <a:cs typeface="+mj-cs"/>
            </a:endParaRPr>
          </a:p>
        </p:txBody>
      </p:sp>
      <p:sp>
        <p:nvSpPr>
          <p:cNvPr id="5" name="TextBox 4">
            <a:extLst>
              <a:ext uri="{FF2B5EF4-FFF2-40B4-BE49-F238E27FC236}">
                <a16:creationId xmlns:a16="http://schemas.microsoft.com/office/drawing/2014/main" id="{C94B2C7C-5D19-3804-DBAC-E8EEEAC99140}"/>
              </a:ext>
            </a:extLst>
          </p:cNvPr>
          <p:cNvSpPr txBox="1"/>
          <p:nvPr/>
        </p:nvSpPr>
        <p:spPr>
          <a:xfrm>
            <a:off x="1524000" y="1828799"/>
            <a:ext cx="9144000" cy="4572001"/>
          </a:xfrm>
          <a:prstGeom prst="rect">
            <a:avLst/>
          </a:prstGeom>
        </p:spPr>
        <p:txBody>
          <a:bodyPr vert="horz" lIns="91440" tIns="45720" rIns="91440" bIns="45720" rtlCol="0">
            <a:normAutofit/>
          </a:bodyPr>
          <a:lstStyle/>
          <a:p>
            <a:r>
              <a:rPr lang="en-US" sz="2400" b="1" dirty="0"/>
              <a:t>Database Design</a:t>
            </a:r>
            <a:r>
              <a:rPr lang="en-US" sz="2400" dirty="0"/>
              <a:t> — Data normalized into </a:t>
            </a:r>
            <a:r>
              <a:rPr lang="en-US" sz="2400" b="1" dirty="0"/>
              <a:t>3NF SQLite</a:t>
            </a:r>
            <a:r>
              <a:rPr lang="en-US" sz="2400" dirty="0"/>
              <a:t> with five tables (patient, health, work type, residence type, smoking) to reduce redundancy and support efficient queries.</a:t>
            </a:r>
          </a:p>
          <a:p>
            <a:r>
              <a:rPr lang="en-US" sz="2400" b="1" dirty="0"/>
              <a:t>Data Cleaning</a:t>
            </a:r>
            <a:r>
              <a:rPr lang="en-US" sz="2400" dirty="0"/>
              <a:t> — Missing BMI stored as </a:t>
            </a:r>
            <a:r>
              <a:rPr lang="en-US" sz="2400" b="1" dirty="0"/>
              <a:t>NULL</a:t>
            </a:r>
            <a:r>
              <a:rPr lang="en-US" sz="2400" dirty="0"/>
              <a:t>; smoking </a:t>
            </a:r>
            <a:r>
              <a:rPr lang="en-US" sz="2400" b="1" dirty="0"/>
              <a:t>“Unknown”</a:t>
            </a:r>
            <a:r>
              <a:rPr lang="en-US" sz="2400" dirty="0"/>
              <a:t> kept; high glucose (&gt;200) and BMI (&gt;60) validated and retained.</a:t>
            </a:r>
          </a:p>
          <a:p>
            <a:r>
              <a:rPr lang="en-US" sz="2400" b="1" dirty="0"/>
              <a:t>Descriptive Statistics</a:t>
            </a:r>
            <a:r>
              <a:rPr lang="en-US" sz="2400" dirty="0"/>
              <a:t> — Computed </a:t>
            </a:r>
            <a:r>
              <a:rPr lang="en-US" sz="2400" b="1" dirty="0"/>
              <a:t>mean</a:t>
            </a:r>
            <a:r>
              <a:rPr lang="en-US" sz="2400" dirty="0"/>
              <a:t>, </a:t>
            </a:r>
            <a:r>
              <a:rPr lang="en-US" sz="2400" b="1" dirty="0"/>
              <a:t>median</a:t>
            </a:r>
            <a:r>
              <a:rPr lang="en-US" sz="2400" dirty="0"/>
              <a:t>, </a:t>
            </a:r>
            <a:r>
              <a:rPr lang="en-US" sz="2400" b="1" dirty="0"/>
              <a:t>mode</a:t>
            </a:r>
            <a:r>
              <a:rPr lang="en-US" sz="2400" dirty="0"/>
              <a:t>, </a:t>
            </a:r>
            <a:r>
              <a:rPr lang="en-US" sz="2400" b="1" dirty="0"/>
              <a:t>SD</a:t>
            </a:r>
            <a:r>
              <a:rPr lang="en-US" sz="2400" dirty="0"/>
              <a:t>, </a:t>
            </a:r>
            <a:r>
              <a:rPr lang="en-US" sz="2400" b="1" dirty="0"/>
              <a:t>variance</a:t>
            </a:r>
            <a:r>
              <a:rPr lang="en-US" sz="2400" dirty="0"/>
              <a:t>, </a:t>
            </a:r>
            <a:r>
              <a:rPr lang="en-US" sz="2400" b="1" dirty="0"/>
              <a:t>quartiles</a:t>
            </a:r>
            <a:r>
              <a:rPr lang="en-US" sz="2400" dirty="0"/>
              <a:t>; tabulated categorical frequencies.</a:t>
            </a:r>
          </a:p>
          <a:p>
            <a:r>
              <a:rPr lang="en-US" sz="2400" b="1" dirty="0"/>
              <a:t>Hypothesis Testing</a:t>
            </a:r>
            <a:r>
              <a:rPr lang="en-US" sz="2400" dirty="0"/>
              <a:t> — Ten questions tested using </a:t>
            </a:r>
            <a:r>
              <a:rPr lang="en-US" sz="2400" b="1" dirty="0"/>
              <a:t>T‑Tests</a:t>
            </a:r>
            <a:r>
              <a:rPr lang="en-US" sz="2400" dirty="0"/>
              <a:t>, </a:t>
            </a:r>
            <a:r>
              <a:rPr lang="en-US" sz="2400" b="1" dirty="0"/>
              <a:t>ANOVA</a:t>
            </a:r>
            <a:r>
              <a:rPr lang="en-US" sz="2400" dirty="0"/>
              <a:t>, </a:t>
            </a:r>
            <a:r>
              <a:rPr lang="en-US" sz="2400" b="1" dirty="0"/>
              <a:t>Chi‑Square</a:t>
            </a:r>
            <a:r>
              <a:rPr lang="en-US" sz="2400" dirty="0"/>
              <a:t>, and </a:t>
            </a:r>
            <a:r>
              <a:rPr lang="en-US" sz="2400" b="1" dirty="0"/>
              <a:t>Quartile Analysis</a:t>
            </a:r>
            <a:r>
              <a:rPr lang="en-US" sz="2400" dirty="0"/>
              <a:t> at </a:t>
            </a:r>
            <a:r>
              <a:rPr lang="en-US" sz="2400" b="1" dirty="0"/>
              <a:t>α = 0.05</a:t>
            </a:r>
            <a:r>
              <a:rPr lang="en-US" sz="2400" dirty="0"/>
              <a:t>.</a:t>
            </a:r>
          </a:p>
          <a:p>
            <a:r>
              <a:rPr lang="en-US" sz="2400" b="1" dirty="0"/>
              <a:t>Patient Segmentation</a:t>
            </a:r>
            <a:r>
              <a:rPr lang="en-US" sz="2400" dirty="0"/>
              <a:t> — Built a </a:t>
            </a:r>
            <a:r>
              <a:rPr lang="en-US" sz="2400" b="1" dirty="0"/>
              <a:t>5‑factor risk score (0–5)</a:t>
            </a:r>
            <a:r>
              <a:rPr lang="en-US" sz="2400" dirty="0"/>
              <a:t> using hypertension, heart disease, glucose &gt;140, age &gt;60, and smoking; segmented patients by score and age group.</a:t>
            </a:r>
          </a:p>
        </p:txBody>
      </p:sp>
    </p:spTree>
    <p:extLst>
      <p:ext uri="{BB962C8B-B14F-4D97-AF65-F5344CB8AC3E}">
        <p14:creationId xmlns:p14="http://schemas.microsoft.com/office/powerpoint/2010/main" val="28346900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0C0F1-EB2A-1988-56E9-36E996F01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C3674-3360-55A0-9213-51F006FEF57C}"/>
              </a:ext>
            </a:extLst>
          </p:cNvPr>
          <p:cNvSpPr>
            <a:spLocks noGrp="1"/>
          </p:cNvSpPr>
          <p:nvPr>
            <p:ph type="title"/>
          </p:nvPr>
        </p:nvSpPr>
        <p:spPr/>
        <p:txBody>
          <a:bodyPr/>
          <a:lstStyle/>
          <a:p>
            <a:pPr algn="ctr"/>
            <a:r>
              <a:rPr lang="en-US" dirty="0"/>
              <a:t>Age and Stroke Rate</a:t>
            </a:r>
          </a:p>
        </p:txBody>
      </p:sp>
      <p:sp>
        <p:nvSpPr>
          <p:cNvPr id="3" name="Content Placeholder 2">
            <a:extLst>
              <a:ext uri="{FF2B5EF4-FFF2-40B4-BE49-F238E27FC236}">
                <a16:creationId xmlns:a16="http://schemas.microsoft.com/office/drawing/2014/main" id="{32BC44EA-5149-D378-9FFB-9FC713E443F3}"/>
              </a:ext>
            </a:extLst>
          </p:cNvPr>
          <p:cNvSpPr>
            <a:spLocks noGrp="1"/>
          </p:cNvSpPr>
          <p:nvPr>
            <p:ph idx="1"/>
          </p:nvPr>
        </p:nvSpPr>
        <p:spPr>
          <a:xfrm>
            <a:off x="152400" y="1676401"/>
            <a:ext cx="11887200" cy="5181600"/>
          </a:xfrm>
        </p:spPr>
        <p:txBody>
          <a:bodyPr>
            <a:noAutofit/>
          </a:bodyPr>
          <a:lstStyle/>
          <a:p>
            <a:pPr marL="0" indent="0">
              <a:buNone/>
            </a:pPr>
            <a:r>
              <a:rPr lang="en-US" dirty="0"/>
              <a:t> Stroke patients had a mean age of 67.7 years vs 41.9 years for non-stroke patients. The independent T-Test yielded T = 22.94, p &lt; 0.0001 highly significant. Senior patients (&gt;60) had a 13.57% stroke rate vs 0.13% for patients under 30.</a:t>
            </a:r>
          </a:p>
          <a:p>
            <a:pPr marL="0" indent="0">
              <a:buNone/>
            </a:pPr>
            <a:endParaRPr lang="en-US" dirty="0"/>
          </a:p>
        </p:txBody>
      </p:sp>
      <p:pic>
        <p:nvPicPr>
          <p:cNvPr id="4" name="Picture 3">
            <a:extLst>
              <a:ext uri="{FF2B5EF4-FFF2-40B4-BE49-F238E27FC236}">
                <a16:creationId xmlns:a16="http://schemas.microsoft.com/office/drawing/2014/main" id="{77C6D6D1-F73B-D9EE-A914-CF29A26C5B9E}"/>
              </a:ext>
            </a:extLst>
          </p:cNvPr>
          <p:cNvPicPr>
            <a:picLocks noChangeAspect="1"/>
          </p:cNvPicPr>
          <p:nvPr/>
        </p:nvPicPr>
        <p:blipFill>
          <a:blip r:embed="rId2"/>
          <a:stretch>
            <a:fillRect/>
          </a:stretch>
        </p:blipFill>
        <p:spPr>
          <a:xfrm>
            <a:off x="1066800" y="3393763"/>
            <a:ext cx="9906000" cy="3464237"/>
          </a:xfrm>
          <a:prstGeom prst="rect">
            <a:avLst/>
          </a:prstGeom>
        </p:spPr>
      </p:pic>
    </p:spTree>
    <p:extLst>
      <p:ext uri="{BB962C8B-B14F-4D97-AF65-F5344CB8AC3E}">
        <p14:creationId xmlns:p14="http://schemas.microsoft.com/office/powerpoint/2010/main" val="2710402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99220"/>
            <a:ext cx="10058400" cy="1325563"/>
          </a:xfrm>
        </p:spPr>
        <p:txBody>
          <a:bodyPr vert="horz" lIns="91440" tIns="45720" rIns="91440" bIns="45720" rtlCol="0" anchor="ctr">
            <a:normAutofit/>
          </a:bodyPr>
          <a:lstStyle/>
          <a:p>
            <a:pPr algn="ctr"/>
            <a:r>
              <a:rPr lang="en-US" b="1" dirty="0"/>
              <a:t>Hypertension and Stroke Rate</a:t>
            </a:r>
            <a:endParaRPr lang="en-US" dirty="0"/>
          </a:p>
        </p:txBody>
      </p:sp>
      <p:sp>
        <p:nvSpPr>
          <p:cNvPr id="5" name="TextBox 4">
            <a:extLst>
              <a:ext uri="{FF2B5EF4-FFF2-40B4-BE49-F238E27FC236}">
                <a16:creationId xmlns:a16="http://schemas.microsoft.com/office/drawing/2014/main" id="{B10E2E3E-A704-B743-0269-5E09CCDCD4A2}"/>
              </a:ext>
            </a:extLst>
          </p:cNvPr>
          <p:cNvSpPr txBox="1"/>
          <p:nvPr/>
        </p:nvSpPr>
        <p:spPr>
          <a:xfrm>
            <a:off x="1066800" y="1825624"/>
            <a:ext cx="4800600" cy="4575175"/>
          </a:xfrm>
          <a:prstGeom prst="rect">
            <a:avLst/>
          </a:prstGeom>
        </p:spPr>
        <p:txBody>
          <a:bodyPr vert="horz" lIns="91440" tIns="45720" rIns="91440" bIns="45720" rtlCol="0">
            <a:normAutofit/>
          </a:bodyPr>
          <a:lstStyle/>
          <a:p>
            <a:pPr marL="228600" indent="-228600">
              <a:lnSpc>
                <a:spcPct val="90000"/>
              </a:lnSpc>
              <a:spcBef>
                <a:spcPts val="1800"/>
              </a:spcBef>
              <a:buSzPct val="100000"/>
              <a:buFont typeface="Arial" pitchFamily="34" charset="0"/>
              <a:buChar char="▪"/>
            </a:pPr>
            <a:r>
              <a:rPr lang="en-US" sz="2400">
                <a:solidFill>
                  <a:schemeClr val="tx1">
                    <a:lumMod val="75000"/>
                    <a:lumOff val="25000"/>
                  </a:schemeClr>
                </a:solidFill>
              </a:rPr>
              <a:t>Chi-Square analysis: Chi2 = 81.61, p = 1.66e-19. Patients with hypertension had a stroke rate of 13.25% vs 3.97% without a 3.3x increase.</a:t>
            </a:r>
          </a:p>
        </p:txBody>
      </p:sp>
      <p:pic>
        <p:nvPicPr>
          <p:cNvPr id="4" name="Picture 3">
            <a:extLst>
              <a:ext uri="{FF2B5EF4-FFF2-40B4-BE49-F238E27FC236}">
                <a16:creationId xmlns:a16="http://schemas.microsoft.com/office/drawing/2014/main" id="{5ADCE3D8-E77C-BC21-CA00-A95591B1E423}"/>
              </a:ext>
            </a:extLst>
          </p:cNvPr>
          <p:cNvPicPr>
            <a:picLocks noChangeAspect="1"/>
          </p:cNvPicPr>
          <p:nvPr/>
        </p:nvPicPr>
        <p:blipFill>
          <a:blip r:embed="rId2">
            <a:extLst>
              <a:ext uri="{28A0092B-C50C-407E-A947-70E740481C1C}">
                <a14:useLocalDpi xmlns:a14="http://schemas.microsoft.com/office/drawing/2010/main" val="0"/>
              </a:ext>
            </a:extLst>
          </a:blip>
          <a:srcRect l="17340" r="13670" b="-1"/>
          <a:stretch>
            <a:fillRect/>
          </a:stretch>
        </p:blipFill>
        <p:spPr>
          <a:xfrm>
            <a:off x="6324600" y="1825624"/>
            <a:ext cx="4800600" cy="4575175"/>
          </a:xfrm>
          <a:prstGeom prst="rect">
            <a:avLst/>
          </a:prstGeom>
          <a:noFill/>
        </p:spPr>
      </p:pic>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11CA-9EEA-2985-CFD6-0DDACA8C1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9F2B8-AE59-4CBA-F907-7EC4F9557E00}"/>
              </a:ext>
            </a:extLst>
          </p:cNvPr>
          <p:cNvSpPr>
            <a:spLocks noGrp="1"/>
          </p:cNvSpPr>
          <p:nvPr>
            <p:ph type="title"/>
          </p:nvPr>
        </p:nvSpPr>
        <p:spPr>
          <a:xfrm>
            <a:off x="1066800" y="99220"/>
            <a:ext cx="10058400" cy="1325563"/>
          </a:xfrm>
        </p:spPr>
        <p:txBody>
          <a:bodyPr vert="horz" lIns="91440" tIns="45720" rIns="91440" bIns="45720" rtlCol="0" anchor="ctr">
            <a:normAutofit/>
          </a:bodyPr>
          <a:lstStyle/>
          <a:p>
            <a:pPr algn="ctr"/>
            <a:r>
              <a:rPr lang="en-US" b="1" dirty="0"/>
              <a:t>Lifestyle Factors</a:t>
            </a:r>
            <a:endParaRPr lang="en-US" dirty="0"/>
          </a:p>
        </p:txBody>
      </p:sp>
      <p:pic>
        <p:nvPicPr>
          <p:cNvPr id="4" name="Picture 3">
            <a:extLst>
              <a:ext uri="{FF2B5EF4-FFF2-40B4-BE49-F238E27FC236}">
                <a16:creationId xmlns:a16="http://schemas.microsoft.com/office/drawing/2014/main" id="{A3425477-B32C-44F0-D1DF-EEF004FC5E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4132"/>
            <a:ext cx="7045146" cy="5163868"/>
          </a:xfrm>
          <a:prstGeom prst="rect">
            <a:avLst/>
          </a:prstGeom>
          <a:noFill/>
        </p:spPr>
      </p:pic>
      <p:sp>
        <p:nvSpPr>
          <p:cNvPr id="5" name="TextBox 4">
            <a:extLst>
              <a:ext uri="{FF2B5EF4-FFF2-40B4-BE49-F238E27FC236}">
                <a16:creationId xmlns:a16="http://schemas.microsoft.com/office/drawing/2014/main" id="{CF05F0C6-B9FB-3765-6B1E-6755A79FF509}"/>
              </a:ext>
            </a:extLst>
          </p:cNvPr>
          <p:cNvSpPr txBox="1"/>
          <p:nvPr/>
        </p:nvSpPr>
        <p:spPr>
          <a:xfrm>
            <a:off x="7239000" y="1988478"/>
            <a:ext cx="4800600" cy="4575175"/>
          </a:xfrm>
          <a:prstGeom prst="rect">
            <a:avLst/>
          </a:prstGeom>
        </p:spPr>
        <p:txBody>
          <a:bodyPr vert="horz" lIns="91440" tIns="45720" rIns="91440" bIns="45720" rtlCol="0">
            <a:normAutofit/>
          </a:bodyPr>
          <a:lstStyle/>
          <a:p>
            <a:pPr>
              <a:lnSpc>
                <a:spcPct val="90000"/>
              </a:lnSpc>
              <a:spcBef>
                <a:spcPts val="1800"/>
              </a:spcBef>
              <a:buSzPct val="100000"/>
            </a:pPr>
            <a:r>
              <a:rPr lang="en-US" sz="2400" dirty="0">
                <a:solidFill>
                  <a:schemeClr val="tx1">
                    <a:lumMod val="75000"/>
                    <a:lumOff val="25000"/>
                  </a:schemeClr>
                </a:solidFill>
              </a:rPr>
              <a:t>Work type showed significant ANOVA results (F = 12.40, p = 4.90e-10). Self-employed patients had the highest stroke rate (7.94%). Smoking status showed borderline significance (p = 0.079), likely attenuated by 30% missing values.</a:t>
            </a:r>
          </a:p>
        </p:txBody>
      </p:sp>
    </p:spTree>
    <p:extLst>
      <p:ext uri="{BB962C8B-B14F-4D97-AF65-F5344CB8AC3E}">
        <p14:creationId xmlns:p14="http://schemas.microsoft.com/office/powerpoint/2010/main" val="1627894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8027-FAA3-7C8B-8965-FCF7EB49B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72C77-91F8-A089-E76F-A8CE26EA041A}"/>
              </a:ext>
            </a:extLst>
          </p:cNvPr>
          <p:cNvSpPr>
            <a:spLocks noGrp="1"/>
          </p:cNvSpPr>
          <p:nvPr>
            <p:ph type="title"/>
          </p:nvPr>
        </p:nvSpPr>
        <p:spPr>
          <a:xfrm>
            <a:off x="1066800" y="99220"/>
            <a:ext cx="10058400" cy="1325563"/>
          </a:xfrm>
        </p:spPr>
        <p:txBody>
          <a:bodyPr vert="horz" lIns="91440" tIns="45720" rIns="91440" bIns="45720" rtlCol="0" anchor="ctr">
            <a:normAutofit/>
          </a:bodyPr>
          <a:lstStyle/>
          <a:p>
            <a:pPr algn="ctr"/>
            <a:r>
              <a:rPr lang="en-US" b="1" dirty="0"/>
              <a:t>Glucose Level and Stroke Rate</a:t>
            </a:r>
            <a:endParaRPr lang="en-US" dirty="0"/>
          </a:p>
        </p:txBody>
      </p:sp>
      <p:pic>
        <p:nvPicPr>
          <p:cNvPr id="5" name="Picture 4">
            <a:extLst>
              <a:ext uri="{FF2B5EF4-FFF2-40B4-BE49-F238E27FC236}">
                <a16:creationId xmlns:a16="http://schemas.microsoft.com/office/drawing/2014/main" id="{1F895077-C746-B75A-F161-BD14835CF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9" y="3273106"/>
            <a:ext cx="9959069" cy="3485674"/>
          </a:xfrm>
          <a:prstGeom prst="rect">
            <a:avLst/>
          </a:prstGeom>
          <a:noFill/>
        </p:spPr>
      </p:pic>
      <p:sp>
        <p:nvSpPr>
          <p:cNvPr id="6" name="TextBox 5">
            <a:extLst>
              <a:ext uri="{FF2B5EF4-FFF2-40B4-BE49-F238E27FC236}">
                <a16:creationId xmlns:a16="http://schemas.microsoft.com/office/drawing/2014/main" id="{A6F26BDD-2F4A-848A-DFDB-4F7B1B9EB225}"/>
              </a:ext>
            </a:extLst>
          </p:cNvPr>
          <p:cNvSpPr txBox="1"/>
          <p:nvPr/>
        </p:nvSpPr>
        <p:spPr>
          <a:xfrm>
            <a:off x="457200" y="1671635"/>
            <a:ext cx="12573000" cy="2441576"/>
          </a:xfrm>
          <a:prstGeom prst="rect">
            <a:avLst/>
          </a:prstGeom>
        </p:spPr>
        <p:txBody>
          <a:bodyPr vert="horz" lIns="91440" tIns="45720" rIns="91440" bIns="45720" rtlCol="0">
            <a:normAutofit/>
          </a:bodyPr>
          <a:lstStyle/>
          <a:p>
            <a:pPr marL="228600" indent="-228600">
              <a:lnSpc>
                <a:spcPct val="90000"/>
              </a:lnSpc>
              <a:spcBef>
                <a:spcPts val="1800"/>
              </a:spcBef>
              <a:buSzPct val="100000"/>
              <a:buFont typeface="Arial" pitchFamily="34" charset="0"/>
              <a:buChar char="▪"/>
            </a:pPr>
            <a:r>
              <a:rPr lang="en-US" sz="2400" dirty="0">
                <a:solidFill>
                  <a:schemeClr val="tx1">
                    <a:lumMod val="75000"/>
                    <a:lumOff val="25000"/>
                  </a:schemeClr>
                </a:solidFill>
              </a:rPr>
              <a:t>T-Test: T = 9.51, p = 2.77e-21. Stroke group mean glucose was 132.5 vs 104.8 mg/dL. Quartile analysis confirmed a monotonic increase in stroke rate from Q1 (1.9%) to Q4 (10.9%).</a:t>
            </a:r>
          </a:p>
        </p:txBody>
      </p:sp>
    </p:spTree>
    <p:extLst>
      <p:ext uri="{BB962C8B-B14F-4D97-AF65-F5344CB8AC3E}">
        <p14:creationId xmlns:p14="http://schemas.microsoft.com/office/powerpoint/2010/main" val="3372838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39FA-A8C7-202B-70E4-417335F32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8DCBB-FEED-FE65-F682-6804CDE00351}"/>
              </a:ext>
            </a:extLst>
          </p:cNvPr>
          <p:cNvSpPr>
            <a:spLocks noGrp="1"/>
          </p:cNvSpPr>
          <p:nvPr>
            <p:ph type="title"/>
          </p:nvPr>
        </p:nvSpPr>
        <p:spPr/>
        <p:txBody>
          <a:bodyPr/>
          <a:lstStyle/>
          <a:p>
            <a:pPr algn="ctr"/>
            <a:r>
              <a:rPr lang="en-US" b="1" dirty="0"/>
              <a:t>BMI and Stroke Rate</a:t>
            </a:r>
            <a:endParaRPr lang="en-US" dirty="0"/>
          </a:p>
        </p:txBody>
      </p:sp>
      <p:pic>
        <p:nvPicPr>
          <p:cNvPr id="5" name="Picture 4">
            <a:extLst>
              <a:ext uri="{FF2B5EF4-FFF2-40B4-BE49-F238E27FC236}">
                <a16:creationId xmlns:a16="http://schemas.microsoft.com/office/drawing/2014/main" id="{761A8564-3B40-626B-A5BE-23BA90B487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33203"/>
            <a:ext cx="12192000" cy="4263677"/>
          </a:xfrm>
          <a:prstGeom prst="rect">
            <a:avLst/>
          </a:prstGeom>
        </p:spPr>
      </p:pic>
      <p:sp>
        <p:nvSpPr>
          <p:cNvPr id="6" name="TextBox 5">
            <a:extLst>
              <a:ext uri="{FF2B5EF4-FFF2-40B4-BE49-F238E27FC236}">
                <a16:creationId xmlns:a16="http://schemas.microsoft.com/office/drawing/2014/main" id="{00923F63-4A9A-3A74-4CDB-21C0A8F2D164}"/>
              </a:ext>
            </a:extLst>
          </p:cNvPr>
          <p:cNvSpPr txBox="1"/>
          <p:nvPr/>
        </p:nvSpPr>
        <p:spPr>
          <a:xfrm>
            <a:off x="381000" y="1601594"/>
            <a:ext cx="11430000" cy="830997"/>
          </a:xfrm>
          <a:prstGeom prst="rect">
            <a:avLst/>
          </a:prstGeom>
          <a:noFill/>
        </p:spPr>
        <p:txBody>
          <a:bodyPr wrap="square" rtlCol="0">
            <a:spAutoFit/>
          </a:bodyPr>
          <a:lstStyle/>
          <a:p>
            <a:r>
              <a:rPr lang="en-US" sz="2400" dirty="0"/>
              <a:t>T-Test: T = 3.21, p = 0.0014. Stroke group mean BMI was 30.47 vs 28.82. BMI quartile analysis showed a non-linear pattern Q3 had the highest stroke rate (5.59%), not Q4.</a:t>
            </a:r>
          </a:p>
        </p:txBody>
      </p:sp>
    </p:spTree>
    <p:extLst>
      <p:ext uri="{BB962C8B-B14F-4D97-AF65-F5344CB8AC3E}">
        <p14:creationId xmlns:p14="http://schemas.microsoft.com/office/powerpoint/2010/main" val="21641036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C7F95-CE43-8040-57FB-28D7D3FCB6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C9B4BF-EE0B-BBDD-EB07-FAFF21F4EBF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9965" y="0"/>
            <a:ext cx="12142034" cy="6857999"/>
          </a:xfrm>
          <a:prstGeom prst="rect">
            <a:avLst/>
          </a:prstGeom>
        </p:spPr>
      </p:pic>
    </p:spTree>
    <p:extLst>
      <p:ext uri="{BB962C8B-B14F-4D97-AF65-F5344CB8AC3E}">
        <p14:creationId xmlns:p14="http://schemas.microsoft.com/office/powerpoint/2010/main" val="18399631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A94EC-BBFE-B27F-A13E-21F3D21D55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FFCDB54-4CA6-77D8-C7F5-1EEBE377DE75}"/>
              </a:ext>
            </a:extLst>
          </p:cNvPr>
          <p:cNvSpPr txBox="1"/>
          <p:nvPr/>
        </p:nvSpPr>
        <p:spPr>
          <a:xfrm>
            <a:off x="1066800" y="99220"/>
            <a:ext cx="10058400" cy="132556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solidFill>
                  <a:schemeClr val="bg1"/>
                </a:solidFill>
                <a:latin typeface="+mj-lt"/>
                <a:ea typeface="+mj-ea"/>
                <a:cs typeface="+mj-cs"/>
              </a:rPr>
              <a:t>Data Output</a:t>
            </a:r>
            <a:endParaRPr lang="en-US" sz="3600" dirty="0">
              <a:solidFill>
                <a:schemeClr val="bg1"/>
              </a:solidFill>
              <a:latin typeface="+mj-lt"/>
              <a:ea typeface="+mj-ea"/>
              <a:cs typeface="+mj-cs"/>
            </a:endParaRPr>
          </a:p>
        </p:txBody>
      </p:sp>
      <p:sp>
        <p:nvSpPr>
          <p:cNvPr id="5" name="TextBox 4">
            <a:extLst>
              <a:ext uri="{FF2B5EF4-FFF2-40B4-BE49-F238E27FC236}">
                <a16:creationId xmlns:a16="http://schemas.microsoft.com/office/drawing/2014/main" id="{C80F71E0-E6D1-1C04-AAF5-70956285958F}"/>
              </a:ext>
            </a:extLst>
          </p:cNvPr>
          <p:cNvSpPr txBox="1"/>
          <p:nvPr/>
        </p:nvSpPr>
        <p:spPr>
          <a:xfrm>
            <a:off x="1524000" y="1828799"/>
            <a:ext cx="9144000" cy="4572001"/>
          </a:xfrm>
          <a:prstGeom prst="rect">
            <a:avLst/>
          </a:prstGeom>
        </p:spPr>
        <p:txBody>
          <a:bodyPr vert="horz" lIns="91440" tIns="45720" rIns="91440" bIns="45720" rtlCol="0">
            <a:normAutofit/>
          </a:bodyPr>
          <a:lstStyle/>
          <a:p>
            <a:endParaRPr lang="en-US" sz="2400" dirty="0"/>
          </a:p>
        </p:txBody>
      </p:sp>
      <p:pic>
        <p:nvPicPr>
          <p:cNvPr id="7" name="Picture 6">
            <a:extLst>
              <a:ext uri="{FF2B5EF4-FFF2-40B4-BE49-F238E27FC236}">
                <a16:creationId xmlns:a16="http://schemas.microsoft.com/office/drawing/2014/main" id="{361A0990-E1D9-846B-660C-6CDB34527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4812" y="1462883"/>
            <a:ext cx="5817188" cy="5395117"/>
          </a:xfrm>
          <a:prstGeom prst="rect">
            <a:avLst/>
          </a:prstGeom>
        </p:spPr>
      </p:pic>
      <p:pic>
        <p:nvPicPr>
          <p:cNvPr id="9" name="Picture 8">
            <a:extLst>
              <a:ext uri="{FF2B5EF4-FFF2-40B4-BE49-F238E27FC236}">
                <a16:creationId xmlns:a16="http://schemas.microsoft.com/office/drawing/2014/main" id="{5A09223F-5641-9543-E6D3-A2774760DF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481933"/>
            <a:ext cx="6374813" cy="5376067"/>
          </a:xfrm>
          <a:prstGeom prst="rect">
            <a:avLst/>
          </a:prstGeom>
        </p:spPr>
      </p:pic>
    </p:spTree>
    <p:extLst>
      <p:ext uri="{BB962C8B-B14F-4D97-AF65-F5344CB8AC3E}">
        <p14:creationId xmlns:p14="http://schemas.microsoft.com/office/powerpoint/2010/main" val="33331393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9F3BC-7C0E-A4A9-3CAF-1FB69074CF3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75B3680-9BB9-A59D-445B-5F1F66F9C261}"/>
              </a:ext>
            </a:extLst>
          </p:cNvPr>
          <p:cNvSpPr txBox="1"/>
          <p:nvPr/>
        </p:nvSpPr>
        <p:spPr>
          <a:xfrm>
            <a:off x="1066800" y="99220"/>
            <a:ext cx="10058400" cy="132556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solidFill>
                  <a:schemeClr val="bg1"/>
                </a:solidFill>
                <a:latin typeface="+mj-lt"/>
                <a:ea typeface="+mj-ea"/>
                <a:cs typeface="+mj-cs"/>
              </a:rPr>
              <a:t>Data Output</a:t>
            </a:r>
            <a:endParaRPr lang="en-US" sz="3600" dirty="0">
              <a:solidFill>
                <a:schemeClr val="bg1"/>
              </a:solidFill>
              <a:latin typeface="+mj-lt"/>
              <a:ea typeface="+mj-ea"/>
              <a:cs typeface="+mj-cs"/>
            </a:endParaRPr>
          </a:p>
        </p:txBody>
      </p:sp>
      <p:sp>
        <p:nvSpPr>
          <p:cNvPr id="5" name="TextBox 4">
            <a:extLst>
              <a:ext uri="{FF2B5EF4-FFF2-40B4-BE49-F238E27FC236}">
                <a16:creationId xmlns:a16="http://schemas.microsoft.com/office/drawing/2014/main" id="{796D41D3-9AE4-DD06-3D85-3A513408D12A}"/>
              </a:ext>
            </a:extLst>
          </p:cNvPr>
          <p:cNvSpPr txBox="1"/>
          <p:nvPr/>
        </p:nvSpPr>
        <p:spPr>
          <a:xfrm>
            <a:off x="1524000" y="1828799"/>
            <a:ext cx="9144000" cy="4572001"/>
          </a:xfrm>
          <a:prstGeom prst="rect">
            <a:avLst/>
          </a:prstGeom>
        </p:spPr>
        <p:txBody>
          <a:bodyPr vert="horz" lIns="91440" tIns="45720" rIns="91440" bIns="45720" rtlCol="0">
            <a:normAutofit/>
          </a:bodyPr>
          <a:lstStyle/>
          <a:p>
            <a:endParaRPr lang="en-US" sz="2400" dirty="0"/>
          </a:p>
        </p:txBody>
      </p:sp>
      <p:pic>
        <p:nvPicPr>
          <p:cNvPr id="3" name="Picture 2">
            <a:extLst>
              <a:ext uri="{FF2B5EF4-FFF2-40B4-BE49-F238E27FC236}">
                <a16:creationId xmlns:a16="http://schemas.microsoft.com/office/drawing/2014/main" id="{833EAC6B-FAC1-F8EF-9026-5A48AB23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 y="1424783"/>
            <a:ext cx="12211050" cy="5333997"/>
          </a:xfrm>
          <a:prstGeom prst="rect">
            <a:avLst/>
          </a:prstGeom>
        </p:spPr>
      </p:pic>
    </p:spTree>
    <p:extLst>
      <p:ext uri="{BB962C8B-B14F-4D97-AF65-F5344CB8AC3E}">
        <p14:creationId xmlns:p14="http://schemas.microsoft.com/office/powerpoint/2010/main" val="896497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253</TotalTime>
  <Words>732</Words>
  <Application>Microsoft Office PowerPoint</Application>
  <PresentationFormat>Widescreen</PresentationFormat>
  <Paragraphs>35</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Franklin Gothic Medium</vt:lpstr>
      <vt:lpstr>Medical Design 16x9</vt:lpstr>
      <vt:lpstr>Stroke Risk Factor Analysis</vt:lpstr>
      <vt:lpstr>Abstract</vt:lpstr>
      <vt:lpstr>PowerPoint Presentation</vt:lpstr>
      <vt:lpstr>Problem</vt:lpstr>
      <vt:lpstr>PowerPoint Presentation</vt:lpstr>
      <vt:lpstr>Approach</vt:lpstr>
      <vt:lpstr>PowerPoint Presentation</vt:lpstr>
      <vt:lpstr>PowerPoint Presentation</vt:lpstr>
      <vt:lpstr>Age and Stroke Rate</vt:lpstr>
      <vt:lpstr>Hypertension and Stroke Rate</vt:lpstr>
      <vt:lpstr>Lifestyle Factors</vt:lpstr>
      <vt:lpstr>Glucose Level and Stroke Rate</vt:lpstr>
      <vt:lpstr>BMI and Stroke Rate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taija grace</dc:creator>
  <cp:lastModifiedBy>taija grace</cp:lastModifiedBy>
  <cp:revision>2</cp:revision>
  <dcterms:created xsi:type="dcterms:W3CDTF">2026-07-01T17:04:23Z</dcterms:created>
  <dcterms:modified xsi:type="dcterms:W3CDTF">2026-07-01T21:17:51Z</dcterms:modified>
</cp:coreProperties>
</file>